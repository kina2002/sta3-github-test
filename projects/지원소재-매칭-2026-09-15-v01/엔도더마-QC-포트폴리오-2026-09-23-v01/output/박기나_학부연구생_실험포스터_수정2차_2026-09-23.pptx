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d3ed82f4114a49" /><Relationship Type="http://schemas.openxmlformats.org/officeDocument/2006/relationships/extended-properties" Target="/docProps/app.xml" Id="Rf93e8bb66d434e02" /><Relationship Type="http://schemas.openxmlformats.org/officeDocument/2006/relationships/officeDocument" Target="/ppt/presentation.xml" Id="Rc169d2637e7543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634005fa2b4afb"/>
  </p:sldMasterIdLst>
  <p:notesMasterIdLst>
    <p:notesMasterId xmlns:r="http://schemas.openxmlformats.org/officeDocument/2006/relationships" r:id="Rd48c354baace4bcb"/>
  </p:notesMasterIdLst>
  <p:sldIdLst>
    <p:sldId xmlns:r="http://schemas.openxmlformats.org/officeDocument/2006/relationships" id="256" r:id="Ra3e1704607b74749"/>
  </p:sldIdLst>
  <p:sldSz cx="15116175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a4b83a9c284542" /><Relationship Type="http://schemas.openxmlformats.org/officeDocument/2006/relationships/slideMaster" Target="/ppt/slideMasters/slideMaster1.xml" Id="R49634005fa2b4afb" /><Relationship Type="http://schemas.openxmlformats.org/officeDocument/2006/relationships/notesMaster" Target="/ppt/notesMasters/notesMaster1.xml" Id="Rd48c354baace4bcb" /><Relationship Type="http://schemas.openxmlformats.org/officeDocument/2006/relationships/presProps" Target="/ppt/presProps.xml" Id="Rf74adae07e594db0" /><Relationship Type="http://schemas.openxmlformats.org/officeDocument/2006/relationships/viewProps" Target="/ppt/viewProps.xml" Id="Rfb61309d29624417" /><Relationship Type="http://schemas.openxmlformats.org/officeDocument/2006/relationships/tableStyles" Target="/ppt/tableStyles.xml" Id="Rf0676571c8634a11" /><Relationship Type="http://schemas.openxmlformats.org/officeDocument/2006/relationships/slide" Target="/ppt/slides/slide1.xml" Id="Ra3e1704607b747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9096c0acb140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3cb51ccc7d4a3b" /><Relationship Type="http://schemas.openxmlformats.org/officeDocument/2006/relationships/notesMaster" Target="/ppt/notesMasters/notesMaster1.xml" Id="R7fb041aa72e347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 source: 학부연구생_실험_정리_박기나.docx paragraphs 114-126 and supplied screenshot. Hexamethylenediamine comparison was planned but not completed, so it is not presented as a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9885cabff49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220f4e535740ba" /><Relationship Type="http://schemas.openxmlformats.org/officeDocument/2006/relationships/slideLayout" Target="/ppt/slideLayouts/slideLayout1.xml" Id="Rcae69d99433346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69d99433346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a64d096c349d1" /><Relationship Type="http://schemas.openxmlformats.org/officeDocument/2006/relationships/image" Target="/ppt/media/image.png" Id="R4e495fb6da5f4ec5" /><Relationship Type="http://schemas.openxmlformats.org/officeDocument/2006/relationships/image" Target="/ppt/media/image2.png" Id="R7b9ded4de73a4363" /><Relationship Type="http://schemas.openxmlformats.org/officeDocument/2006/relationships/image" Target="/ppt/media/image3.png" Id="R5c4d4edbfa0a4fa6" /><Relationship Type="http://schemas.openxmlformats.org/officeDocument/2006/relationships/image" Target="/ppt/media/image4.png" Id="Ra5c913abcab341af" /><Relationship Type="http://schemas.openxmlformats.org/officeDocument/2006/relationships/image" Target="/ppt/media/image5.png" Id="Ra2bf21860b7d42b2" /><Relationship Type="http://schemas.openxmlformats.org/officeDocument/2006/relationships/image" Target="/ppt/media/image6.png" Id="Rdf8f477ca6614d56" /><Relationship Type="http://schemas.openxmlformats.org/officeDocument/2006/relationships/image" Target="/ppt/media/image7.png" Id="Re56c83232fa24543" /><Relationship Type="http://schemas.openxmlformats.org/officeDocument/2006/relationships/image" Target="/ppt/media/image8.png" Id="R9b9d47ec8773469e" /><Relationship Type="http://schemas.openxmlformats.org/officeDocument/2006/relationships/notesSlide" Target="/ppt/notesSlides/notesSlide1.xml" Id="Re395c3732bd84f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706C6732-B814-45F7-9298-EDBABCD9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116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4E3F661-0CBF-4A86-94C0-2AB683A9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고분자 합성 조건 최적화와 FT-IR 기반 반응 확인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0FE4C927-BC69-4F1F-81EB-E8E35627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E6B66"/>
                </a:solidFill>
                <a:latin typeface="한컴 말랑말랑 Bold"/>
                <a:ea typeface="한컴 말랑말랑 Bold"/>
                <a:cs typeface="한컴 말랑말랑 Bold"/>
              </a:rPr>
              <a:t>ATPB 합성 공정 개선 및 폴리우레탄 경화 조건 비교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357A8AE-E6E2-4600-B75B-7ADF3D30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14350"/>
            <a:ext cx="366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박기나</a:t>
            </a: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  |  </a:t>
            </a: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홍익대학교</a:t>
            </a: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바이오화학공학과</a:t>
            </a:r>
            <a:endParaRPr sz="1200" b="1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r"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학부연구생  </a:t>
            </a: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|  2023.10–2024.12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AFB7022-2559-4C9E-8E4F-EB3566E6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25730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학부연구생 연구 정리</a:t>
            </a:r>
            <a:endParaRPr sz="1125" b="0">
              <a:solidFill>
                <a:srgbClr val="5B677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4938018-72FC-46A8-8F8E-5B3EB55A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3782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5"/>
          </a:solidFill>
          <a:ln xmlns:a="http://schemas.openxmlformats.org/drawingml/2006/main" w="0">
            <a:noFill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4030502-6177-4453-8203-0CF11C2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190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5"/>
          </a:solidFill>
          <a:ln xmlns:a="http://schemas.openxmlformats.org/drawingml/2006/main" w="0">
            <a:noFill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01827586-2A64-490E-8654-7CFC45DE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90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5"/>
          </a:solidFill>
          <a:ln xmlns:a="http://schemas.openxmlformats.org/drawingml/2006/main" w="0">
            <a:noFill/>
          </a:ln>
        </p:spPr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0631C284-120F-4BFB-AC6C-8855D72A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DCE7874-9957-4A16-9C11-49550B11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BC4B4A5-30D3-46E5-8F06-D0BC652D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288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연구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 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목적과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 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합성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 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흐름</a:t>
            </a:r>
            <a:endParaRPr sz="1875" b="1">
              <a:solidFill>
                <a:srgbClr val="17324D"/>
              </a:solidFill>
              <a:latin typeface="한컴 말랑말랑 Bold"/>
              <a:ea typeface="한컴 말랑말랑 Bold"/>
              <a:cs typeface="한컴 말랑말랑 Bold"/>
            </a:endParaRP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CD2C0344-941C-48E2-B9C3-37E4EEDA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48A52CF-8C85-4F00-A81E-E5C3B42F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362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HTPB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말단기를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단계적으로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변환해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ATPB를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합성하고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, 각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단계의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반응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여부를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FT-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IR로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확인했습니다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이후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반응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조건과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정제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방식을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조정해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효율과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재현성을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높이는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방향을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탐색했습니다</a:t>
            </a: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DA06CCF2-BB6D-43E4-A00C-69271BCD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9330"/>
            <a:ext cx="4362450" cy="1828800"/>
          </a:xfrm>
          <a:prstGeom xmlns:a="http://schemas.openxmlformats.org/drawingml/2006/main" prst="roundRect">
            <a:avLst>
              <a:gd name="adj" fmla="val 7292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pic>
        <p:nvPicPr>
          <p:cNvPr id="126" name="그림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95fb6da5f4ec5"/>
          <a:stretch xmlns:a="http://schemas.openxmlformats.org/drawingml/2006/main"/>
        </p:blipFill>
        <p:spPr>
          <a:xfrm xmlns:a="http://schemas.openxmlformats.org/drawingml/2006/main">
            <a:off x="1053784" y="3662680"/>
            <a:ext cx="3626483" cy="1562100"/>
          </a:xfrm>
          <a:prstGeom xmlns:a="http://schemas.openxmlformats.org/drawingml/2006/main" prst="rect">
            <a:avLst/>
          </a:prstGeom>
        </p:spPr>
      </p:pic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D4DA309E-9431-4A82-BCA0-9F679DB9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" y="5486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89" lnSpcReduction="1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공정 개선 포인트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3AC1C69C-DC57-4088-8670-90735FC4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139"/>
            <a:ext cx="4362450" cy="3534411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0A0EB288-8D17-44FA-A346-54F05496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421" y="2213662"/>
            <a:ext cx="12573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0">
            <a:noFill/>
          </a:ln>
        </p:spPr>
      </p:sp>
      <p:pic>
        <p:nvPicPr>
          <p:cNvPr id="130" name="그림 8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ded4de73a4363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7621" y="2289862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90003BFB-E788-47C2-80C1-5F872D3C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611" y="2263827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불순물</a:t>
            </a: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제거</a:t>
            </a:r>
            <a:endParaRPr sz="1500" b="1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D45CE61C-2694-45F8-83F5-DCE9D77A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786" y="2628317"/>
            <a:ext cx="2819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TPPO의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저온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ether 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불용성을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이용해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시료를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냉각하고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석출된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불순물을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분리했습니다</a:t>
            </a: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3E0A08FA-DCB4-4344-AAD4-22CD83EA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505" y="3643567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A2BAC535-3712-43FA-8BFD-5C5DADF4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505" y="3662617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990B6C05-85F9-4CAC-8142-F42BFC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805" y="3624517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FT-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IR로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 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반응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 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단계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 </a:t>
            </a: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확인</a:t>
            </a:r>
            <a:endParaRPr sz="1875" b="1">
              <a:solidFill>
                <a:srgbClr val="17324D"/>
              </a:solidFill>
              <a:latin typeface="한컴 말랑말랑 Bold"/>
              <a:ea typeface="한컴 말랑말랑 Bold"/>
              <a:cs typeface="한컴 말랑말랑 Bold"/>
            </a:endParaRP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6BC1B903-820B-46F6-BFA4-EA36F7B8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505" y="4100767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B16541A9-E9E8-4A86-B5C6-CEBC3629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505" y="4317199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① </a:t>
            </a: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Tosylation</a:t>
            </a: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: 약 3300 cm⁻¹의 OH </a:t>
            </a: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피크</a:t>
            </a: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감소</a:t>
            </a:r>
            <a:endParaRPr sz="1275" b="1">
              <a:solidFill>
                <a:srgbClr val="0E6B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4C01AF3D-2947-445E-AA82-AD466331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505" y="4640355"/>
            <a:ext cx="4362450" cy="20694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7E1E5"/>
            </a:solidFill>
          </a:ln>
        </p:spPr>
      </p:sp>
      <p:pic>
        <p:nvPicPr>
          <p:cNvPr id="139" name="그림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d4edbfa0a4fa6"/>
          <a:stretch xmlns:a="http://schemas.openxmlformats.org/drawingml/2006/main"/>
        </p:blipFill>
        <p:spPr>
          <a:xfrm xmlns:a="http://schemas.openxmlformats.org/drawingml/2006/main">
            <a:off x="5422705" y="4696841"/>
            <a:ext cx="4210050" cy="1936404"/>
          </a:xfrm>
          <a:prstGeom xmlns:a="http://schemas.openxmlformats.org/drawingml/2006/main" prst="rect">
            <a:avLst/>
          </a:prstGeom>
        </p:spPr>
      </p:pic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387ABCA7-2B1E-4CBA-8BD3-64228DF3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505" y="6858076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② </a:t>
            </a: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Azidation</a:t>
            </a: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 → Staudinger reductio</a:t>
            </a: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n</a:t>
            </a:r>
            <a:endParaRPr sz="1275" b="1">
              <a:solidFill>
                <a:srgbClr val="0E6B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A0F3B733-179B-4438-8871-398F790B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505" y="7195300"/>
            <a:ext cx="4362450" cy="2085975"/>
          </a:xfrm>
          <a:prstGeom xmlns:a="http://schemas.openxmlformats.org/drawingml/2006/main" prst="roundRect">
            <a:avLst>
              <a:gd name="adj" fmla="val 3968"/>
            </a:avLst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7E1E5"/>
            </a:solidFill>
          </a:ln>
        </p:spPr>
      </p:sp>
      <p:pic>
        <p:nvPicPr>
          <p:cNvPr id="142" name="그림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913abcab341af"/>
          <a:stretch xmlns:a="http://schemas.openxmlformats.org/drawingml/2006/main"/>
        </p:blipFill>
        <p:spPr>
          <a:xfrm xmlns:a="http://schemas.openxmlformats.org/drawingml/2006/main">
            <a:off x="5494384" y="7251544"/>
            <a:ext cx="4066691" cy="1953532"/>
          </a:xfrm>
          <a:prstGeom xmlns:a="http://schemas.openxmlformats.org/drawingml/2006/main" prst="rect">
            <a:avLst/>
          </a:prstGeom>
        </p:spPr>
      </p:pic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1BC734E3-93F9-49C6-BD4F-47DA6A0F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851535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endParaRPr sz="1200" b="1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CAF05760-833B-451F-8BD5-EFA21859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F7446A34-F823-4194-B50D-F2F3FC0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66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A0C51EF4-B88F-49B7-95A8-792FD234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0288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324D"/>
                </a:solidFill>
                <a:latin typeface="한컴 말랑말랑 Bold"/>
                <a:ea typeface="한컴 말랑말랑 Bold"/>
                <a:cs typeface="한컴 말랑말랑 Bold"/>
              </a:rPr>
              <a:t>Hexanediol chain extender 적용</a:t>
            </a:r>
            <a:endParaRPr sz="1875" b="1">
              <a:solidFill>
                <a:srgbClr val="17324D"/>
              </a:solidFill>
              <a:latin typeface="한컴 말랑말랑 Bold"/>
              <a:ea typeface="한컴 말랑말랑 Bold"/>
              <a:cs typeface="한컴 말랑말랑 Bold"/>
            </a:endParaRP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6AF71F0D-D316-4E46-9FF8-D1B3B095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05075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F7D2B7BA-EC06-4889-A797-71395477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Hexanediol을 첨가해 기존 PDI 기반 PU보다 부드러운 시편을 제조했습니다.</a:t>
            </a:r>
            <a:endParaRPr sz="1275" b="0">
              <a:solidFill>
                <a:srgbClr val="1F29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CDE8E387-C5ED-4EA7-8665-3A2083AE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486900"/>
            <a:ext cx="1511617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240B22F9-D749-4228-924E-777914C9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43" y="96488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원료·공정</a:t>
            </a: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조건</a:t>
            </a: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관리</a:t>
            </a:r>
            <a:endParaRPr sz="1425" b="1">
              <a:solidFill>
                <a:srgbClr val="A9E1D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E1737E4-5694-4EF5-BBC8-23BEA399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2" y="10084434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실험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조건을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표준화하고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sz="1125" b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변수별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결과를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비교</a:t>
            </a:r>
            <a:endParaRPr sz="1125" b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DC12FB09-8953-4A2D-BDFF-D7026FA4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9639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시험 결과 해석</a:t>
            </a: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237507FF-29F6-4146-AF5D-E42EF52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060" y="10075227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FT-IR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피크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변화를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근거로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sz="1125" b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반응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1125" b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5E01B2F2-84E3-4E47-AF2C-C493A8BA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1275" y="9639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이상</a:t>
            </a: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원인</a:t>
            </a: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추적</a:t>
            </a:r>
            <a:endParaRPr sz="1425" b="1">
              <a:solidFill>
                <a:srgbClr val="A9E1D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24F7F4DA-FD16-408D-8D4C-6BA3C098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100" y="10075227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예상치 못한 불순물 제거 방법 모색 후 공정 추가</a:t>
            </a:r>
            <a:endParaRPr sz="1125" b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39E22F0E-CC7F-414E-8300-25B543E1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797" y="96488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기록과 협</a:t>
            </a: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업</a:t>
            </a:r>
          </a:p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34CB232C-9A21-4348-B011-28C42E2E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34" y="1007808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실험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기록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정리와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랩미팅을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통한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공유</a:t>
            </a:r>
            <a:endParaRPr sz="1125" b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551217F-BA39-433E-A8DB-BE46DF85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910" y="8983687"/>
            <a:ext cx="314698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/>
              <a:t>“ </a:t>
            </a:r>
            <a:r>
              <a:rPr sz="1200" b="1"/>
              <a:t>변경 전후 주요 </a:t>
            </a:r>
            <a:r>
              <a:rPr sz="1200" b="1"/>
              <a:t>FT-IR </a:t>
            </a:r>
            <a:r>
              <a:rPr sz="1200" b="1"/>
              <a:t>피크의 유사성 확인 </a:t>
            </a:r>
            <a:r>
              <a:rPr sz="1200" b="1"/>
              <a:t>“</a:t>
            </a:r>
            <a:endParaRPr sz="1200" b="1"/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CD9D2C1B-9D25-413A-9C51-DCAE8747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081" y="2259064"/>
            <a:ext cx="120015" cy="2647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직선 연결선 35">
            <a:extLst xmlns:a="http://schemas.openxmlformats.org/drawingml/2006/main">
              <a:ext uri="{FF2B5EF4-FFF2-40B4-BE49-F238E27FC236}">
                <a16:creationId xmlns:a16="http://schemas.microsoft.com/office/drawing/2014/main" id="{CF7E341E-1637-495C-B2F1-DD09F8B8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145" y="9624376"/>
            <a:ext cx="0" cy="899478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FEA"/>
            </a:solidFill>
            <a:prstDash val="dash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4" name="직선 연결선 73">
            <a:extLst xmlns:a="http://schemas.openxmlformats.org/drawingml/2006/main">
              <a:ext uri="{FF2B5EF4-FFF2-40B4-BE49-F238E27FC236}">
                <a16:creationId xmlns:a16="http://schemas.microsoft.com/office/drawing/2014/main" id="{A72F1B65-A2A4-4611-9DF9-DDC90729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785" y="9624376"/>
            <a:ext cx="0" cy="899478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FEA"/>
            </a:solidFill>
            <a:prstDash val="dash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직선 연결선 74">
            <a:extLst xmlns:a="http://schemas.openxmlformats.org/drawingml/2006/main">
              <a:ext uri="{FF2B5EF4-FFF2-40B4-BE49-F238E27FC236}">
                <a16:creationId xmlns:a16="http://schemas.microsoft.com/office/drawing/2014/main" id="{2F99149D-658D-49A4-A75D-221F51E0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5025" y="9624376"/>
            <a:ext cx="0" cy="899478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EFEA"/>
            </a:solidFill>
            <a:prstDash val="dash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63" name="그림 4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bf21860b7d42b2"/>
          <a:srcRect xmlns:a="http://schemas.openxmlformats.org/drawingml/2006/main" l="16381" t="18494" r="37745" b="28374"/>
          <a:stretch xmlns:a="http://schemas.openxmlformats.org/drawingml/2006/main"/>
        </p:blipFill>
        <p:spPr>
          <a:xfrm xmlns:a="http://schemas.openxmlformats.org/drawingml/2006/main">
            <a:off x="960000" y="7647963"/>
            <a:ext cx="1643410" cy="1085851"/>
          </a:xfrm>
          <a:prstGeom xmlns:a="http://schemas.openxmlformats.org/drawingml/2006/main" prst="rect">
            <a:avLst/>
          </a:prstGeom>
        </p:spPr>
      </p:pic>
      <p:pic>
        <p:nvPicPr>
          <p:cNvPr id="164" name="그림 7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8f477ca6614d56"/>
          <a:srcRect xmlns:a="http://schemas.openxmlformats.org/drawingml/2006/main" l="0" t="7537" r="0" b="0"/>
          <a:stretch xmlns:a="http://schemas.openxmlformats.org/drawingml/2006/main"/>
        </p:blipFill>
        <p:spPr>
          <a:xfrm xmlns:a="http://schemas.openxmlformats.org/drawingml/2006/main">
            <a:off x="3027650" y="7661222"/>
            <a:ext cx="1643410" cy="1085851"/>
          </a:xfrm>
          <a:prstGeom xmlns:a="http://schemas.openxmlformats.org/drawingml/2006/main" prst="rect">
            <a:avLst/>
          </a:prstGeom>
        </p:spPr>
      </p:pic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F0C5443D-D1E2-488A-B72C-CDF78931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085" y="7678419"/>
            <a:ext cx="1030937" cy="57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직선 연결선 64">
            <a:extLst xmlns:a="http://schemas.openxmlformats.org/drawingml/2006/main">
              <a:ext uri="{FF2B5EF4-FFF2-40B4-BE49-F238E27FC236}">
                <a16:creationId xmlns:a16="http://schemas.microsoft.com/office/drawing/2014/main" id="{F6C57603-DAFF-43F7-883D-D3E6B8C1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922" y="7680959"/>
            <a:ext cx="0" cy="1005841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070C0"/>
            </a:solidFill>
            <a:prstDash val="sys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167" name="연결선: 꺾임 72"/>
          <p:cNvCxnSpPr>
            <a:stCxn xmlns:a="http://schemas.openxmlformats.org/drawingml/2006/main" id="45" idx="3"/>
          </p:cNvCxnSpPr>
          <p:nvPr/>
        </p:nvCxnSpPr>
        <p:spPr>
          <a:xfrm xmlns:a="http://schemas.openxmlformats.org/drawingml/2006/main" flipV="1">
            <a:off x="2603410" y="7960361"/>
            <a:ext cx="538675" cy="230528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00B0F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CA278452-DBBC-4428-BBA4-1DC452AA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489" y="8788569"/>
            <a:ext cx="870433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/>
              <a:t>공정개선 전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074B8E9B-8C71-4A34-B925-493ED2BA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139" y="8798699"/>
            <a:ext cx="870433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"/>
              <a:t>공정개선 후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43F6020E-FC9B-4AA0-8650-E3FD1223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" y="598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E5C8E88-3DAE-4ECF-8912-236E204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95" y="5995352"/>
            <a:ext cx="34772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HCl </a:t>
            </a: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투입량</a:t>
            </a: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조절</a:t>
            </a: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1 eq → 0.5 eq</a:t>
            </a:r>
            <a:endParaRPr sz="1200" b="1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endParaRPr sz="1000" b="1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후속 중화 과정에서 염기 </a:t>
            </a:r>
            <a:r>
              <a:rPr sz="10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사용랑과</a:t>
            </a:r>
            <a:r>
              <a:rPr sz="10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 후처리 부담을 줄이기 위해서</a:t>
            </a:r>
            <a:endParaRPr sz="1000" b="1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endParaRPr sz="1100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endParaRPr sz="1200" b="1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endParaRPr sz="1200" b="1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endParaRPr sz="1200" b="1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endParaRPr sz="1200" b="1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000FC7FE-B732-4399-B2F1-48C41C94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" y="6731317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24EDA4D-01D0-44E0-B846-0543FAA3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002" y="6738645"/>
            <a:ext cx="347726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5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3단계 </a:t>
            </a:r>
            <a:r>
              <a:rPr sz="130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반응을</a:t>
            </a:r>
            <a:r>
              <a:rPr sz="130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 one-</a:t>
            </a:r>
            <a:r>
              <a:rPr sz="130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pot으로</a:t>
            </a:r>
            <a:r>
              <a:rPr sz="130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진행</a:t>
            </a:r>
            <a:endParaRPr sz="1300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endParaRPr sz="1000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각 </a:t>
            </a:r>
            <a:r>
              <a:rPr sz="110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반응후</a:t>
            </a:r>
            <a:r>
              <a:rPr sz="110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 중간 생성물을 분리</a:t>
            </a:r>
            <a:r>
              <a:rPr sz="1100" b="1"/>
              <a:t>·</a:t>
            </a:r>
            <a:r>
              <a:rPr sz="1100" b="1"/>
              <a:t>이송하는 단계를 줄이고</a:t>
            </a:r>
            <a:r>
              <a:rPr sz="1100" b="1"/>
              <a:t>, </a:t>
            </a:r>
            <a:r>
              <a:rPr sz="1100" b="1"/>
              <a:t>이 과정에서 발생할 수 있는 시료 손실을 줄이기 위해</a:t>
            </a:r>
            <a:endParaRPr sz="1100">
              <a:solidFill>
                <a:srgbClr val="17324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0512E797-41E1-4FC4-B6A1-C272C7B1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339" y="5447986"/>
            <a:ext cx="120015" cy="2647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0C6F6FB5-EB0E-4784-B1E8-2AC942F6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3392" y="6841228"/>
            <a:ext cx="120015" cy="2647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399EFF7-CB4B-4C6A-990D-289B2F03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실험 절차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2FE3BCD-BED0-40F8-BEB4-DB433ADB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00450"/>
            <a:ext cx="436245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586A091-620F-4B89-A331-D7B48523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05225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96"/>
          </a:bodyPr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  HTPB와 Hexanediol을 진공 건조한 뒤 질소 퍼징</a:t>
            </a:r>
          </a:p>
          <a:p xmlns:a="http://schemas.openxmlformats.org/drawingml/2006/main">
            <a:pPr>
              <a:defRPr sz="11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2  IPDI 또는 PDI를 넣어 반응</a:t>
            </a:r>
          </a:p>
          <a:p xmlns:a="http://schemas.openxmlformats.org/drawingml/2006/main">
            <a:pPr>
              <a:defRPr sz="11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3  촉매를 넣고 짧게 반응한 뒤 틀에 주입</a:t>
            </a:r>
          </a:p>
          <a:p xmlns:a="http://schemas.openxmlformats.org/drawingml/2006/main">
            <a:pPr>
              <a:defRPr sz="11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4  오븐에서 경화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C7504C8-D240-44DA-B06D-353625EA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958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조건별 경화 결과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AE91714-A04E-4AC9-8DEC-8614DFC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48250"/>
            <a:ext cx="4362450" cy="1724025"/>
          </a:xfrm>
          <a:prstGeom xmlns:a="http://schemas.openxmlformats.org/drawingml/2006/main" prst="roundRect">
            <a:avLst>
              <a:gd name="adj" fmla="val 55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5"/>
            </a:solidFill>
          </a:ln>
        </p:spPr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c83232fa24543"/>
          <a:stretch xmlns:a="http://schemas.openxmlformats.org/drawingml/2006/main"/>
        </p:blipFill>
        <p:spPr>
          <a:xfrm xmlns:a="http://schemas.openxmlformats.org/drawingml/2006/main">
            <a:off x="10259487" y="5124450"/>
            <a:ext cx="4036476" cy="1571625"/>
          </a:xfrm>
          <a:prstGeom xmlns:a="http://schemas.openxmlformats.org/drawingml/2006/main" prst="rect">
            <a:avLst/>
          </a:prstGeom>
        </p:spPr>
      </p:pic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715C3E5-2E1A-4CCE-B0CF-D1EDAE78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34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시편 결과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ABF31C2-BE9C-4EE6-82BA-C620A399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296150"/>
            <a:ext cx="1676400" cy="16954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d47ec8773469e"/>
          <a:srcRect xmlns:a="http://schemas.openxmlformats.org/drawingml/2006/main" l="0" t="12031" r="0" b="12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7372350"/>
            <a:ext cx="1524000" cy="1543050"/>
          </a:xfrm>
          <a:prstGeom xmlns:a="http://schemas.openxmlformats.org/drawingml/2006/main" prst="rect">
            <a:avLst/>
          </a:prstGeom>
        </p:spPr>
      </p:pic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DBF6F65-0A78-48B2-B77B-8408D64E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7296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KP-01-28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207782B-F698-4A15-A32A-D3DB230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7629525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Hexanediol을 chain extender로 적용한 시편에서 기존 PDI 기반 PU보다 부드러운 특성을 확인했습니다.</a:t>
            </a:r>
          </a:p>
        </p:txBody>
      </p:sp>
    </p:spTree>
    <p:extLst>
      <p:ext uri="{BB962C8B-B14F-4D97-AF65-F5344CB8AC3E}">
        <p14:creationId xmlns:p14="http://schemas.microsoft.com/office/powerpoint/2010/main" val="1035883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2026-09-23T02:29:25.9870000Z</dcterms:created>
  <dcterms:modified xsi:type="dcterms:W3CDTF">2026-09-23T02:29:25.9870000Z</dcterms:modified>
</coreProperties>
</file>