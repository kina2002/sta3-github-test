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e803de949e45fb" /><Relationship Type="http://schemas.openxmlformats.org/officeDocument/2006/relationships/extended-properties" Target="/docProps/app.xml" Id="Ra8fa636e07154674" /><Relationship Type="http://schemas.openxmlformats.org/officeDocument/2006/relationships/officeDocument" Target="/ppt/presentation.xml" Id="Raee8da1badc543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73763a5dbb4faf"/>
  </p:sldMasterIdLst>
  <p:notesMasterIdLst>
    <p:notesMasterId xmlns:r="http://schemas.openxmlformats.org/officeDocument/2006/relationships" r:id="Rd63c974152a24164"/>
  </p:notesMasterIdLst>
  <p:sldIdLst>
    <p:sldId xmlns:r="http://schemas.openxmlformats.org/officeDocument/2006/relationships" id="256" r:id="R99bcf871a9684a94"/>
  </p:sldIdLst>
  <p:sldSz cx="15116175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fff3c1164e41d8" /><Relationship Type="http://schemas.openxmlformats.org/officeDocument/2006/relationships/slideMaster" Target="/ppt/slideMasters/slideMaster1.xml" Id="Rdb73763a5dbb4faf" /><Relationship Type="http://schemas.openxmlformats.org/officeDocument/2006/relationships/notesMaster" Target="/ppt/notesMasters/notesMaster1.xml" Id="Rd63c974152a24164" /><Relationship Type="http://schemas.openxmlformats.org/officeDocument/2006/relationships/presProps" Target="/ppt/presProps.xml" Id="R7001e0889da34ed7" /><Relationship Type="http://schemas.openxmlformats.org/officeDocument/2006/relationships/tableStyles" Target="/ppt/tableStyles.xml" Id="R8bb3b75d302a4ca3" /><Relationship Type="http://schemas.openxmlformats.org/officeDocument/2006/relationships/slide" Target="/ppt/slides/slide1.xml" Id="R99bcf871a9684a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ea43cbe1124c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56e53733b3489c" /><Relationship Type="http://schemas.openxmlformats.org/officeDocument/2006/relationships/notesMaster" Target="/ppt/notesMasters/notesMaster1.xml" Id="R8c235044433944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학부연구생_실험_정리_박기나.docx. 문서에 기록된 실험만 반영했으며 GPC 직접 사용 경험은 기재하지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0cbb1572854f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9964afbe044793" /><Relationship Type="http://schemas.openxmlformats.org/officeDocument/2006/relationships/slideLayout" Target="/ppt/slideLayouts/slideLayout1.xml" Id="Rf242f0e89d2945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42f0e89d2945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9767f5a844c5f" /><Relationship Type="http://schemas.openxmlformats.org/officeDocument/2006/relationships/image" Target="/ppt/media/image.png" Id="Rf04b306b7b964fba" /><Relationship Type="http://schemas.openxmlformats.org/officeDocument/2006/relationships/image" Target="/ppt/media/image2.png" Id="Rce5bd2d85a9d4fed" /><Relationship Type="http://schemas.openxmlformats.org/officeDocument/2006/relationships/image" Target="/ppt/media/image3.png" Id="R9110a41e5e6a45fa" /><Relationship Type="http://schemas.openxmlformats.org/officeDocument/2006/relationships/image" Target="/ppt/media/image4.png" Id="R491021f2c72647b8" /><Relationship Type="http://schemas.openxmlformats.org/officeDocument/2006/relationships/image" Target="/ppt/media/image5.png" Id="R844e85b0549d41f6" /><Relationship Type="http://schemas.openxmlformats.org/officeDocument/2006/relationships/image" Target="/ppt/media/image6.png" Id="R4904a9be6bd84551" /><Relationship Type="http://schemas.openxmlformats.org/officeDocument/2006/relationships/image" Target="/ppt/media/image7.png" Id="Rf9648cae8dc54adc" /><Relationship Type="http://schemas.openxmlformats.org/officeDocument/2006/relationships/notesSlide" Target="/ppt/notesSlides/notesSlide1.xml" Id="R4335c531d09746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ADFF68B-7321-4995-BA72-6514F518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116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DFF2F-EC9B-4B31-A931-8BA1B205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고분자 합성 조건 최적화와 FT-IR 기반 반응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9B6BC-130A-4D65-98E5-691C3D48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E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E6B66"/>
                </a:solidFill>
                <a:latin typeface="Malgun Gothic"/>
                <a:ea typeface="Malgun Gothic"/>
                <a:cs typeface="Malgun Gothic"/>
              </a:rPr>
              <a:t>ATPB 합성 공정 개선 및 폴리우레탄 경화 조건 비교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E754E-6CB3-4974-9FA3-36D9D990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14350"/>
            <a:ext cx="3095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박기나  |  홍익대학교 바이오화학공학과</a:t>
            </a:r>
          </a:p>
          <a:p xmlns:a="http://schemas.openxmlformats.org/drawingml/2006/main">
            <a:pPr algn="r">
              <a:defRPr sz="12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학부연구생  2023.10–2024.12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2BC28C-1E08-4ACE-B0D5-B3CBFA8C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25730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B6773"/>
                </a:solidFill>
                <a:latin typeface="Malgun Gothic"/>
                <a:ea typeface="Malgun Gothic"/>
                <a:cs typeface="Malgun Gothic"/>
              </a:rPr>
              <a:t>화장품 품질관리(QC) 지원 포트폴리오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A494B-CDCD-4171-862E-EDBBF7A3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3782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40569-0416-4A87-9293-174837CA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95500"/>
            <a:ext cx="190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2EC15-29D7-4683-9558-55550714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95500"/>
            <a:ext cx="19050" cy="706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16181-A090-4477-97CE-0CA85DC9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B6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70388-C42C-468B-ADFE-0A2FBE46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69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96169-A5C6-4309-AC4B-916BE8C1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28825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연구 목적과 합성 흐름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DFF13A-BCF9-4666-9C9F-99093381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436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08EFCB-0B0D-4E7D-A21E-3A880CB6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43624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HTPB 말단기를 단계적으로 변환해 ATPB를 합성하고, 각 단계의 반응 여부를 FT-IR로 확인했습니다. 이후 반응 조건과 정제 방식을 조정해 공정 효율과 결과 재현성을 높이는 방향을 탐색했습니다.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A6DDB6-EF24-40D8-8142-F3016532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4362450" cy="1828800"/>
          </a:xfrm>
          <a:prstGeom xmlns:a="http://schemas.openxmlformats.org/drawingml/2006/main" prst="roundRect">
            <a:avLst>
              <a:gd name="adj" fmla="val 7292"/>
            </a:avLst>
          </a:prstGeom>
          <a:solidFill xmlns:a="http://schemas.openxmlformats.org/drawingml/2006/main">
            <a:srgbClr val="F4F8F7"/>
          </a:solidFill>
          <a:ln xmlns:a="http://schemas.openxmlformats.org/drawingml/2006/main" w="0">
            <a:noFill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4b306b7b964fba"/>
          <a:stretch xmlns:a="http://schemas.openxmlformats.org/drawingml/2006/main"/>
        </p:blipFill>
        <p:spPr>
          <a:xfrm xmlns:a="http://schemas.openxmlformats.org/drawingml/2006/main">
            <a:off x="1034734" y="3886200"/>
            <a:ext cx="3626483" cy="15621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D321D4-08A5-4A61-8886-178728EC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공정 개선 포인트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B26408-01A7-4C69-A6D3-5E6948C6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72200"/>
            <a:ext cx="436245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F2B37B-1C8B-429E-A106-3B749347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3150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E43B68-4AA4-4AE0-9D91-CE553336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267450"/>
            <a:ext cx="1676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HCl 투입량 1 eq → 0.5 eq</a:t>
            </a:r>
          </a:p>
          <a:p xmlns:a="http://schemas.openxmlformats.org/drawingml/2006/main">
            <a:pPr>
              <a:def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농도: 원액 → 0.5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6F4C21-F3E6-4EBD-BF4D-C4AB666E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324600"/>
            <a:ext cx="19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D7D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2119C8-DB3C-42D3-A66E-CA99BDD1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150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B84929-71E1-4821-8200-BD573A4F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267450"/>
            <a:ext cx="133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75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3단계 반응을 one-pot으로 진행</a:t>
            </a:r>
          </a:p>
          <a:p xmlns:a="http://schemas.openxmlformats.org/drawingml/2006/main">
            <a:pPr>
              <a:defRPr sz="112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FT-IR로 기존 경로와 유사성 확인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0F8390-51A6-47BD-A727-95FAF669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72375"/>
            <a:ext cx="125730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7D8"/>
          </a:solidFill>
          <a:ln xmlns:a="http://schemas.openxmlformats.org/drawingml/2006/main" w="0">
            <a:noFill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bd2d85a9d4fed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7648575"/>
            <a:ext cx="1104900" cy="11049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34495B-40BA-4467-AE99-527F8155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75819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불순물 제거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0E3E30-6F4E-400C-B72C-36E8E86A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7943850"/>
            <a:ext cx="2819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TPPO의 저온 ether 불용성을 이용해 시료를 냉각하고, 석출된 불순물을 분리했습니다.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1D25B9-EEE9-42D7-B9BE-3E838FD5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0478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B6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CA57C3-9FB2-4FC8-8BE9-29AB6F4C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0669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BFC783-056A-4A73-AF92-6022498A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28825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FT-IR로 반응 단계 확인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068BF1-BFE4-41B8-91A2-AFBA2ED9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05075"/>
            <a:ext cx="436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2B5923-8D16-42A2-B429-C0A111FA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2890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rPr>
              <a:t>① Tosylation: 약 3300 cm⁻¹의 OH 피크 감소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AF72CD-4689-4E68-B92F-311DB78F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952750"/>
            <a:ext cx="4362450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AFCFC"/>
          </a:solidFill>
          <a:ln xmlns:a="http://schemas.openxmlformats.org/drawingml/2006/main" w="9525">
            <a:solidFill>
              <a:srgbClr val="D7E1E5"/>
            </a:solidFill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0a41e5e6a45fa"/>
          <a:stretch xmlns:a="http://schemas.openxmlformats.org/drawingml/2006/main"/>
        </p:blipFill>
        <p:spPr>
          <a:xfrm xmlns:a="http://schemas.openxmlformats.org/drawingml/2006/main">
            <a:off x="5457825" y="3029279"/>
            <a:ext cx="4210050" cy="2228191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916396-13E8-4F13-9843-0ADCC201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5054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E6B66"/>
                </a:solidFill>
                <a:latin typeface="Malgun Gothic"/>
                <a:ea typeface="Malgun Gothic"/>
                <a:cs typeface="Malgun Gothic"/>
              </a:rPr>
              <a:t>② Azidation → Staudinger reduction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050E9F-49E6-4C0C-8FBF-0E0C0B36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829300"/>
            <a:ext cx="4362450" cy="2400300"/>
          </a:xfrm>
          <a:prstGeom xmlns:a="http://schemas.openxmlformats.org/drawingml/2006/main" prst="roundRect">
            <a:avLst>
              <a:gd name="adj" fmla="val 3968"/>
            </a:avLst>
          </a:prstGeom>
          <a:solidFill xmlns:a="http://schemas.openxmlformats.org/drawingml/2006/main">
            <a:srgbClr val="FAFCFC"/>
          </a:solidFill>
          <a:ln xmlns:a="http://schemas.openxmlformats.org/drawingml/2006/main" w="9525">
            <a:solidFill>
              <a:srgbClr val="D7E1E5"/>
            </a:solidFill>
          </a:ln>
        </p:spPr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021f2c72647b8"/>
          <a:stretch xmlns:a="http://schemas.openxmlformats.org/drawingml/2006/main"/>
        </p:blipFill>
        <p:spPr>
          <a:xfrm xmlns:a="http://schemas.openxmlformats.org/drawingml/2006/main">
            <a:off x="5529504" y="5905500"/>
            <a:ext cx="4066691" cy="2247900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2850FC-B5DE-4871-88D0-BCBF7BF5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8410575"/>
            <a:ext cx="43624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F8F7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C1B360-0DA4-40D8-A4DC-833C3C1F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8515350"/>
            <a:ext cx="4019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분석 결과를 단순 보관하지 않고, 다음 반응 조건을 결정하는 근거로 활용했습니다.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2845DD-7322-43EA-88CD-25367F4C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4787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6B6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2862FB-35EF-45A3-B0A5-2F874C4A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669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A95489-445A-482D-96D0-6073CC3D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028825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PU 경화 조건 비교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74B81D-B06A-43DA-9574-930593DB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05075"/>
            <a:ext cx="436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6B66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902BB5-4A10-4B12-83F8-9247EE9D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47950"/>
            <a:ext cx="4362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용매·촉매·OH:NCO 비율·온도·시간을 바꾸어 경화 여부를 비교했습니다.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6E03A5-3A32-499A-B5A1-1C2C9781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57550"/>
            <a:ext cx="4362450" cy="1971675"/>
          </a:xfrm>
          <a:prstGeom xmlns:a="http://schemas.openxmlformats.org/drawingml/2006/main" prst="roundRect">
            <a:avLst>
              <a:gd name="adj" fmla="val 4831"/>
            </a:avLst>
          </a:prstGeom>
          <a:solidFill xmlns:a="http://schemas.openxmlformats.org/drawingml/2006/main">
            <a:srgbClr val="FAFCFC"/>
          </a:solidFill>
          <a:ln xmlns:a="http://schemas.openxmlformats.org/drawingml/2006/main" w="9525">
            <a:solidFill>
              <a:srgbClr val="D7E1E5"/>
            </a:solidFill>
          </a:ln>
        </p:spPr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4e85b0549d41f6"/>
          <a:stretch xmlns:a="http://schemas.openxmlformats.org/drawingml/2006/main"/>
        </p:blipFill>
        <p:spPr>
          <a:xfrm xmlns:a="http://schemas.openxmlformats.org/drawingml/2006/main">
            <a:off x="10172700" y="3391214"/>
            <a:ext cx="4210050" cy="1704347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32D617-B5A6-4E89-A15B-BA25CF0D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410200"/>
            <a:ext cx="19621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F8F7"/>
          </a:solidFill>
          <a:ln xmlns:a="http://schemas.openxmlformats.org/drawingml/2006/main" w="0">
            <a:noFill/>
          </a:ln>
        </p:spPr>
      </p:sp>
      <p:pic>
        <p:nvPicPr>
          <p:cNvPr id="1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4a9be6bd84551"/>
          <a:stretch xmlns:a="http://schemas.openxmlformats.org/drawingml/2006/main"/>
        </p:blipFill>
        <p:spPr>
          <a:xfrm xmlns:a="http://schemas.openxmlformats.org/drawingml/2006/main">
            <a:off x="10191750" y="5790144"/>
            <a:ext cx="1771650" cy="497413"/>
          </a:xfrm>
          <a:prstGeom xmlns:a="http://schemas.openxmlformats.org/drawingml/2006/main" prst="rect">
            <a:avLst/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70D90C-0EFD-4DE1-B63C-E4A8797F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5429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관찰 결과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32C3CF7-CDF1-4E57-B028-8AE3ED06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5791200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NCO 비율을 높이고 촉매를 사용했을 때 경화가 확인되었습니다.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5D92570-244E-4D2D-A880-80D3ABB4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838950"/>
            <a:ext cx="1562100" cy="20002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4F8F7"/>
          </a:solidFill>
          <a:ln xmlns:a="http://schemas.openxmlformats.org/drawingml/2006/main" w="0">
            <a:noFill/>
          </a:ln>
        </p:spPr>
      </p:sp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648cae8dc54adc"/>
          <a:srcRect xmlns:a="http://schemas.openxmlformats.org/drawingml/2006/main" l="0" t="845" r="0" b="8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72700" y="6915150"/>
            <a:ext cx="1409700" cy="1847850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81FBD86-0572-4B41-B638-4CC87FE4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6838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시행착오에서 얻은 판단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E5124ED-0FB1-4316-8CED-0E721DD5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9100" y="7239000"/>
            <a:ext cx="2514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• 말단 이소시아네이트 방식은 경화가 지나치게 빨라 다른 접근이 필요했습니다.</a:t>
            </a:r>
          </a:p>
          <a:p xmlns:a="http://schemas.openxmlformats.org/drawingml/2006/main">
            <a:pPr>
              <a:def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• Hexanediol 적용 시 더 부드러운 시편을 확인했습니다.</a:t>
            </a:r>
          </a:p>
          <a:p xmlns:a="http://schemas.openxmlformats.org/drawingml/2006/main">
            <a:pPr>
              <a:def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F2933"/>
                </a:solidFill>
                <a:latin typeface="Malgun Gothic"/>
                <a:ea typeface="Malgun Gothic"/>
                <a:cs typeface="Malgun Gothic"/>
              </a:rPr>
              <a:t>• 실패 결과도 조건표로 남겨 다음 실험 설계에 반영했습니다.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76C7E2-7073-4A46-874C-AAADD4DC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410700"/>
            <a:ext cx="151161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7485CCD-5081-46A1-BCA5-E5F8B724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393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QC 직무로 연결되는 역량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7759501-1CA1-4379-8B95-0378CCA5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9639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rPr>
              <a:t>원료·공정 조건 관리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84847D5-C581-4E32-BCAA-801E36A4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00203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실험 조건을 표준화하고 변수별 결과를 비교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454C506-4A22-4E35-B0EB-EC79A0DA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639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rPr>
              <a:t>시험 결과 해석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6F13A00-7442-4EB0-B996-E2B10F02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0203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FT-IR 피크 변화를 근거로 반응 단계 확인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EFDBF40-036D-4AEC-90B4-CE6B6C97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9639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rPr>
              <a:t>이상 원인 추적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B06FEA5-CF7A-4F9C-B764-FEB61C96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00203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불순물·미경화 문제의 원인을 좁혀 조건 수정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C0F1E75-588D-430F-B1E5-7F4F8CF7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9639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A9E1D5"/>
                </a:solidFill>
                <a:latin typeface="Malgun Gothic"/>
                <a:ea typeface="Malgun Gothic"/>
                <a:cs typeface="Malgun Gothic"/>
              </a:rPr>
              <a:t>기록과 협업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129ABA1-EF03-484A-89BC-0CC2C24C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100203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실험 기록 정리와 랩미팅을 통한 결과 공유</a:t>
            </a:r>
          </a:p>
        </p:txBody>
      </p:sp>
    </p:spTree>
    <p:extLst>
      <p:ext uri="{BB962C8B-B14F-4D97-AF65-F5344CB8AC3E}">
        <p14:creationId xmlns:p14="http://schemas.microsoft.com/office/powerpoint/2010/main" val="13944823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2026-09-23T01:07:27.0530000Z</dcterms:created>
  <dcterms:modified xsi:type="dcterms:W3CDTF">2026-09-23T01:07:27.0530000Z</dcterms:modified>
</coreProperties>
</file>