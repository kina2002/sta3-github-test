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ab0a3f4aa4b91" /><Relationship Type="http://schemas.openxmlformats.org/officeDocument/2006/relationships/extended-properties" Target="/docProps/app.xml" Id="R0294bcb3c8304c25" /><Relationship Type="http://schemas.openxmlformats.org/officeDocument/2006/relationships/officeDocument" Target="/ppt/presentation.xml" Id="Rf0549ee15e1f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d4c17f8164f02"/>
  </p:sldMasterIdLst>
  <p:notesMasterIdLst>
    <p:notesMasterId xmlns:r="http://schemas.openxmlformats.org/officeDocument/2006/relationships" r:id="R6f10087203d84f95"/>
  </p:notesMasterIdLst>
  <p:sldIdLst>
    <p:sldId xmlns:r="http://schemas.openxmlformats.org/officeDocument/2006/relationships" id="256" r:id="Rf72d7e6511e246d8"/>
  </p:sldIdLst>
  <p:sldSz cx="15116175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fabce9bc74910" /><Relationship Type="http://schemas.openxmlformats.org/officeDocument/2006/relationships/slideMaster" Target="/ppt/slideMasters/slideMaster1.xml" Id="R348d4c17f8164f02" /><Relationship Type="http://schemas.openxmlformats.org/officeDocument/2006/relationships/notesMaster" Target="/ppt/notesMasters/notesMaster1.xml" Id="R6f10087203d84f95" /><Relationship Type="http://schemas.openxmlformats.org/officeDocument/2006/relationships/presProps" Target="/ppt/presProps.xml" Id="Ra2d55b623cc14679" /><Relationship Type="http://schemas.openxmlformats.org/officeDocument/2006/relationships/tableStyles" Target="/ppt/tableStyles.xml" Id="R044fa22a56154c4d" /><Relationship Type="http://schemas.openxmlformats.org/officeDocument/2006/relationships/slide" Target="/ppt/slides/slide1.xml" Id="Rf72d7e6511e2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78b8b187f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cc3101d55a4f24" /><Relationship Type="http://schemas.openxmlformats.org/officeDocument/2006/relationships/notesMaster" Target="/ppt/notesMasters/notesMaster1.xml" Id="R76bbcbeab98a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학부연구생_실험_정리_박기나.docx. 문서에 기록된 실험만 반영했으며 GPC 직접 사용 경험은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039716afd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f148b909af4b73" /><Relationship Type="http://schemas.openxmlformats.org/officeDocument/2006/relationships/slideLayout" Target="/ppt/slideLayouts/slideLayout1.xml" Id="R72b3104ad44f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b3104ad44f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736b1e89e46c5" /><Relationship Type="http://schemas.openxmlformats.org/officeDocument/2006/relationships/image" Target="/ppt/media/image.png" Id="Rc0f09a9248a2450f" /><Relationship Type="http://schemas.openxmlformats.org/officeDocument/2006/relationships/image" Target="/ppt/media/image2.png" Id="R2bd0f592e6b04a8e" /><Relationship Type="http://schemas.openxmlformats.org/officeDocument/2006/relationships/image" Target="/ppt/media/image3.png" Id="R8908fa1af42b4de5" /><Relationship Type="http://schemas.openxmlformats.org/officeDocument/2006/relationships/image" Target="/ppt/media/image4.png" Id="Rdb12678b58b4458b" /><Relationship Type="http://schemas.openxmlformats.org/officeDocument/2006/relationships/image" Target="/ppt/media/image5.png" Id="Rbed6392e77984e08" /><Relationship Type="http://schemas.openxmlformats.org/officeDocument/2006/relationships/image" Target="/ppt/media/image6.png" Id="Ra6b4af9268a24946" /><Relationship Type="http://schemas.openxmlformats.org/officeDocument/2006/relationships/image" Target="/ppt/media/image7.png" Id="Ra1e0320e9a314b2a" /><Relationship Type="http://schemas.openxmlformats.org/officeDocument/2006/relationships/notesSlide" Target="/ppt/notesSlides/notesSlide1.xml" Id="R98b96713781c46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6C6732-B814-45F7-9298-EDBABCD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6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3F661-0CBF-4A86-94C0-2AB683A9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고분자 합성 조건 최적화와 FT-IR 기반 반응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4C927-BC69-4F1F-81EB-E8E35627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ATPB 합성 공정 개선 및 폴리우레탄 경화 조건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7A8AE-E6E2-4600-B75B-7ADF3D3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14350"/>
            <a:ext cx="366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박기나  |  홍익대학교 바이오화학공학과</a:t>
            </a:r>
          </a:p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학부연구생  |  2023.10–2024.12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B7022-2559-4C9E-8E4F-EB3566E6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257300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화장품 품질관리(QC) 지원 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8018-72FC-46A8-8F8E-5B3EB55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782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30502-6177-4453-8203-0CF11C2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27586-2A64-490E-8654-7CFC45DE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1C284-120F-4BFB-AC6C-8855D72A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E7874-9957-4A16-9C11-49550B1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4B4A5-30D3-46E5-8F06-D0BC652D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연구 목적과 합성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C0344-941C-48E2-B9C3-37E4EEDA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A52CF-8C85-4F00-A81E-E5C3B42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362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HTPB 말단기를 단계적으로 변환해 ATPB를 합성하고, 각 단계의 반응 여부를 FT-IR로 확인했습니다. 이후 반응 조건과 정제 방식을 조정해 공정 효율과 결과 재현성을 높이는 방향을 탐색했습니다.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6CCF2-BB6D-43E4-A00C-69271BC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362450" cy="18288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09a9248a2450f"/>
          <a:stretch xmlns:a="http://schemas.openxmlformats.org/drawingml/2006/main"/>
        </p:blipFill>
        <p:spPr>
          <a:xfrm xmlns:a="http://schemas.openxmlformats.org/drawingml/2006/main">
            <a:off x="1034734" y="3886200"/>
            <a:ext cx="3626483" cy="1562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A309E-9431-4A82-BCA0-9F679DB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공정 개선 포인트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C69C-DC57-4088-8670-90735FC4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43624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6020E-FC9B-4AA0-8650-E3FD1223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15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C8E88-3DAE-4ECF-8912-236E204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67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HCl 투입량 1 eq → 0.5 eq</a:t>
            </a:r>
          </a:p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농도: 원액 →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9EDAA-6D6D-4463-9EAF-A288597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3246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7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FC7FE-B732-4399-B2F1-48C41C9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15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EDA4D-01D0-44E0-B846-0543FAA3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67450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3단계 반응을 one-pot으로 진행</a:t>
            </a:r>
          </a:p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FT-IR로 기존 경로와 유사성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EB288-8D17-44FA-A346-54F0549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1257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0">
            <a:noFill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0f592e6b04a8e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764857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003BFB-E788-47C2-80C1-5F872D3C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581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불순물 제거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5CE61C-2694-45F8-83F5-DCE9D77A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943850"/>
            <a:ext cx="2819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TPPO의 저온 ether 불용성을 이용해 시료를 냉각하고, 석출된 불순물을 분리했습니다.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A08FA-DCB4-4344-AAD4-22CD83E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AC535-3712-43FA-8BFD-5C5DADF4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0B6C05-85F9-4CAC-8142-F42BFC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FT-IR로 반응 단계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C1B903-820B-46F6-BFA4-EA36F7B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6541A9-E9E8-4A86-B5C6-CEBC362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① Tosylation: 약 3300 cm⁻¹의 OH 피크 감소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01AF3D-2947-445E-AA82-AD46633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43624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8fa1af42b4de5"/>
          <a:stretch xmlns:a="http://schemas.openxmlformats.org/drawingml/2006/main"/>
        </p:blipFill>
        <p:spPr>
          <a:xfrm xmlns:a="http://schemas.openxmlformats.org/drawingml/2006/main">
            <a:off x="5457825" y="3029279"/>
            <a:ext cx="4210050" cy="222819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ABCA7-2B1E-4CBA-8BD3-64228DF3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05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② Azidation → Staudinger reduction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3B733-179B-4438-8871-398F790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29300"/>
            <a:ext cx="4362450" cy="24003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2678b58b4458b"/>
          <a:stretch xmlns:a="http://schemas.openxmlformats.org/drawingml/2006/main"/>
        </p:blipFill>
        <p:spPr>
          <a:xfrm xmlns:a="http://schemas.openxmlformats.org/drawingml/2006/main">
            <a:off x="5529504" y="5905500"/>
            <a:ext cx="4066691" cy="22479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B9EE2C-4DAE-4209-A54E-F8F96E6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410575"/>
            <a:ext cx="4362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C734E3-93F9-49C6-BD4F-47DA6A0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51535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분석 결과를 단순 보관하지 않고, 다음 반응 조건을 결정하는 근거로 활용했습니다.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05760-833B-451F-8BD5-EFA2185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46A34-F823-4194-B50D-F2F3FC0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C51EF4-B88F-49B7-95A8-792FD234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PU 경화 조건 비교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71F0D-D316-4E46-9FF8-D1B3B095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D2B7BA-EC06-4889-A797-7139547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용매·촉매·OH:NCO 비율·온도·시간을 바꾸어 경화 여부를 비교했습니다.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CBF300-7576-4540-A24A-174DDE8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4362450" cy="1971675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6392e77984e08"/>
          <a:stretch xmlns:a="http://schemas.openxmlformats.org/drawingml/2006/main"/>
        </p:blipFill>
        <p:spPr>
          <a:xfrm xmlns:a="http://schemas.openxmlformats.org/drawingml/2006/main">
            <a:off x="10172700" y="3391214"/>
            <a:ext cx="4210050" cy="1704347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D970FB-1C6B-4B46-B8A3-3CC328E2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10200"/>
            <a:ext cx="1962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af9268a24946"/>
          <a:stretch xmlns:a="http://schemas.openxmlformats.org/drawingml/2006/main"/>
        </p:blipFill>
        <p:spPr>
          <a:xfrm xmlns:a="http://schemas.openxmlformats.org/drawingml/2006/main">
            <a:off x="10191750" y="5790144"/>
            <a:ext cx="1771650" cy="497413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EC71D9-0C4A-4A22-9B9C-ACD4DB9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42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관찰 결과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B6C05F-910F-4621-A407-631C3E5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791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NCO 비율을 높이고 촉매를 사용했을 때 경화가 확인되었습니다.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8BF39D-869E-4729-9B7B-348DC6EC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38950"/>
            <a:ext cx="1562100" cy="2000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0320e9a314b2a"/>
          <a:srcRect xmlns:a="http://schemas.openxmlformats.org/drawingml/2006/main" l="0" t="845" r="0" b="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6915150"/>
            <a:ext cx="1409700" cy="1847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770342-4597-49C1-BF54-82AB894E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83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시행착오에서 얻은 판단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A48209-5C98-46DF-B918-0A549CCD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239000"/>
            <a:ext cx="2514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말단 이소시아네이트 방식은 경화가 지나치게 빨라 다른 접근이 필요했습니다.</a:t>
            </a:r>
          </a:p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Hexanediol 적용 시 더 부드러운 시편을 확인했습니다.</a:t>
            </a:r>
          </a:p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실패 결과도 조건표로 남겨 다음 실험 설계에 반영했습니다.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E8E387-C5ED-4EA7-8665-3A2083A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10700"/>
            <a:ext cx="151161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F30BE1-E004-4FA9-81CC-B6D69F8F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39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QC 직무로 연결되는 역량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0B22F9-D749-4228-924E-777914C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63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원료·공정 조건 관리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1737E4-5694-4EF5-BBC8-23BEA39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 조건을 표준화하고 변수별 결과를 비교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12FB09-8953-4A2D-BDFF-D7026FA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시험 결과 해석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7507FF-29F6-4146-AF5D-E42EF52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FT-IR 피크 변화를 근거로 반응 단계 확인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01B2F2-84E3-4E47-AF2C-C493A8B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이상 원인 추적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F7F4DA-FD16-408D-8D4C-6BA3C09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불순물·미경화 문제의 원인을 좁혀 조건 수정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E22F0E-CC7F-414E-8300-25B543E1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기록과 협업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CB232C-9A21-4348-B011-28C42E2E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 기록 정리와 랩미팅을 통한 결과 공유</a:t>
            </a:r>
          </a:p>
        </p:txBody>
      </p:sp>
    </p:spTree>
    <p:extLst>
      <p:ext uri="{BB962C8B-B14F-4D97-AF65-F5344CB8AC3E}">
        <p14:creationId xmlns:p14="http://schemas.microsoft.com/office/powerpoint/2010/main" val="103588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2026-09-23T01:09:21.1080000Z</dcterms:created>
  <dcterms:modified xsi:type="dcterms:W3CDTF">2026-09-23T01:09:21.1080000Z</dcterms:modified>
</coreProperties>
</file>